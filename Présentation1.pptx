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B9622-CC56-4B63-8232-92E76989D8C8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8732C-1108-4496-ABF2-60C74E4A6C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66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L'indice de diversité de </a:t>
            </a:r>
            <a:r>
              <a:rPr lang="fr-F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Gini</a:t>
            </a:r>
            <a:r>
              <a:rPr lang="fr-F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peut être calculé en sommant la probabilité pour chaque élément d'être choisi, multipliée par la probabilité qu'il soit mal classé.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CART utilise l'indice de. </a:t>
            </a:r>
            <a:r>
              <a:rPr lang="fr-FR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Gini</a:t>
            </a:r>
            <a:r>
              <a:rPr lang="fr-F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et C4.5 utilise la notion d'entropie.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8732C-1108-4496-ABF2-60C74E4A6C9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711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A879B-B205-4EC4-A587-0AC6C59AD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D3D1A1-65E6-4C72-A191-150A1A207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AA2E56-DAB3-4E5B-AE76-471F1A6D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DB3E54-3465-42C9-AC3B-EF96CBA2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20BE12-BFFF-4180-88C6-AE691629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01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D606E-390A-4C93-87E8-C976372D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82E401-1FB7-4011-83F6-474C41F10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77EFE5-728A-4827-B87C-D3EDD451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7D6BB9-E5EB-49DF-B707-F1EFD5E0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117189-8BA0-47FC-BD1B-9427DD78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56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F57A0-DCA2-4E93-BA6B-714CD7D3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FA8C53-5B42-408F-B046-8279C47A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39E73E-D7E5-4E0D-A7E2-CCCC9F9F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2A6E0C-E3F6-45A2-AB52-A33F9335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EF0615-6F6C-43B3-BD98-2311A46F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35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1D9D8-0910-4627-9FFD-6CFDB89B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949EDF-5F41-4FAA-9020-8A51D31B5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2758F2-EEC6-45A5-AA24-886F5743A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7472E9-2417-4503-8156-20CCC498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D62CC4-01E4-4A8D-8FA0-EDFE6E52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AD60C4-FA8D-4362-8801-C4C4C110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22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850E6-3D25-42C1-BAB4-9BE70AE9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57E2E4-5097-4462-B1D5-BCC9D82EB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63AD73-10AA-47CC-B6AC-4662569E2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6F4DCF-5E29-4F96-AE7B-E067A3E6B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C14729-22B3-4470-A707-CF125D503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E1528E-99C6-4160-9F56-29C020E6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83969F-C45B-4606-B99A-B4B6A891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CC1679-1549-4752-A4F3-030A9DD2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19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D8C7A-2E8B-44FB-A291-46BE604E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B698ABA-875E-4E2B-B118-613C1686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9986C5-58DE-45CE-8DD6-E12780E6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B66507-BB1F-4889-B3CB-5EFD0BA7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73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4B0D73-AB9B-4F96-B02C-2F476466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EE2F9F-D8A0-4B30-A271-428D69AA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C7CE49-E549-4A62-9875-DD6FC7C9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7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F4BA7-0640-4BFD-A7FC-EDA9FFA8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17B01F-FEBC-477E-98A6-3B2E3247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6215B3-318E-46BB-8B65-BFBE6BABB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F1D92D-3632-413F-94F9-648AF958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C59802-55DF-4BBA-B39C-0A078E3D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7A76B6-3129-4639-8494-B8A38867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67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AFF568-8CCE-43FB-9850-2FAA14C6D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3AF8CA-77F9-404A-8966-254991826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702787-7D3C-4C5C-89B3-7B8114EFA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21B9D6-ED80-43DF-9085-9E76798C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8D0B79-27E6-4A78-B2D6-6A0957B6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10964A-6ED9-472A-A7AF-385DF7BD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91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ADD75-7A0B-46A1-947B-0FE7409A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FA949F-CF61-4D4C-97B9-2B5A19F8D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03E490-D44F-4631-BC58-47E85732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EDFFF6-917C-4DAF-9CE2-BCB88298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88DFEC-9BBC-4FA2-A1D5-F09A26F4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72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08422DA-B309-4164-A331-7BFE985FB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5A7E6F-3440-4A84-B43F-31D1B3200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60DEBD-B03F-40C0-9ACC-FBE17CD3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B5159-6AD3-40C7-80AE-AA2D0746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E71035-D5F0-4251-8E33-1149A040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07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0F66BB-4DAA-41F2-9BEE-37FCD6FE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5E73B7-704E-4E70-A0B6-A27539803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3A5E3-98E2-462B-80FD-7112B0998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5E524-5599-426A-8C85-6AD3D76B7E52}" type="datetimeFigureOut">
              <a:rPr lang="fr-FR" smtClean="0"/>
              <a:t>01/04/2021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9AAAEB-24DE-49B3-A729-F29E4E918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91C839-956A-4AB0-9B80-57F8C48F8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93CDC-A7C3-4618-9DC5-A2010B89C2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03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1C331-AD04-4736-81DE-BB82C15F0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Imputation des valeurs manquantes avec </a:t>
            </a:r>
            <a:r>
              <a:rPr lang="fr-FR" i="1" dirty="0" err="1"/>
              <a:t>RandomForest</a:t>
            </a:r>
            <a:r>
              <a:rPr lang="fr-FR" i="1" dirty="0"/>
              <a:t> Imputer</a:t>
            </a:r>
          </a:p>
        </p:txBody>
      </p:sp>
    </p:spTree>
    <p:extLst>
      <p:ext uri="{BB962C8B-B14F-4D97-AF65-F5344CB8AC3E}">
        <p14:creationId xmlns:p14="http://schemas.microsoft.com/office/powerpoint/2010/main" val="388983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B3680-7DC8-45A9-8886-30E4DFAB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fr-FR" dirty="0"/>
              <a:t>Arbres de décision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C03A824-7E9B-42CB-8350-684A3FCFA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0150" t="23495" r="21434" b="14557"/>
          <a:stretch/>
        </p:blipFill>
        <p:spPr>
          <a:xfrm>
            <a:off x="1019175" y="1461202"/>
            <a:ext cx="5295900" cy="4803653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BB9BC5C-C95D-490C-BE9F-7B6321013ED9}"/>
              </a:ext>
            </a:extLst>
          </p:cNvPr>
          <p:cNvSpPr txBox="1"/>
          <p:nvPr/>
        </p:nvSpPr>
        <p:spPr>
          <a:xfrm>
            <a:off x="6924675" y="1690688"/>
            <a:ext cx="3819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Défauts des arbres de décision:</a:t>
            </a:r>
          </a:p>
          <a:p>
            <a:r>
              <a:rPr lang="fr-FR" dirty="0"/>
              <a:t>1- Arbres générés pas équilibrés,</a:t>
            </a:r>
          </a:p>
          <a:p>
            <a:r>
              <a:rPr lang="fr-FR" dirty="0"/>
              <a:t>2- Sur-apprentissage.</a:t>
            </a:r>
          </a:p>
          <a:p>
            <a:r>
              <a:rPr lang="fr-FR" dirty="0"/>
              <a:t>3- Instables. Les arbres produisent des estimateurs de variance élevée.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DDCBC-B611-4D84-9CFA-E4E84030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fr-FR" dirty="0"/>
              <a:t>Forêts aléatoires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1B1429-BD05-4307-B4DE-DD1466A3A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350"/>
            <a:ext cx="10515600" cy="4900613"/>
          </a:xfrm>
        </p:spPr>
        <p:txBody>
          <a:bodyPr/>
          <a:lstStyle/>
          <a:p>
            <a:pPr marL="0" indent="0">
              <a:buNone/>
            </a:pPr>
            <a:r>
              <a:rPr lang="fr-FR" sz="1800" b="1" i="0" dirty="0">
                <a:solidFill>
                  <a:srgbClr val="000000"/>
                </a:solidFill>
                <a:effectLst/>
              </a:rPr>
              <a:t>Réduction de variance</a:t>
            </a:r>
            <a:r>
              <a:rPr lang="fr-FR" sz="1800" b="0" i="0" dirty="0">
                <a:solidFill>
                  <a:srgbClr val="000000"/>
                </a:solidFill>
                <a:effectLst/>
              </a:rPr>
              <a:t> : on effectue un </a:t>
            </a:r>
            <a:r>
              <a:rPr lang="fr-FR" sz="1800" dirty="0"/>
              <a:t>apprentissage sur de multiples arbres de décision entraînés sur des sous-ensembles de données légèrement différents.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b="1" i="0" dirty="0">
                <a:solidFill>
                  <a:srgbClr val="000000"/>
                </a:solidFill>
                <a:effectLst/>
              </a:rPr>
              <a:t>Caractéristiques: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Elles donnent de bons résultats surtout en grande dimension,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Elles sont très simples à mettre en œuvre,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Elles ont peu de paramètres.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fr-FR" altLang="fr-FR" sz="18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Construction: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fr-FR" altLang="fr-FR" sz="1800" dirty="0">
                <a:solidFill>
                  <a:srgbClr val="000000"/>
                </a:solidFill>
              </a:rPr>
              <a:t>Créer N nouveaux ensembles d’apprentissage (échantillonnage).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Sur chaque échantillon, on entraine un arbre de décision.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fr-FR" altLang="fr-FR" sz="1800" dirty="0">
                <a:solidFill>
                  <a:srgbClr val="000000"/>
                </a:solidFill>
              </a:rPr>
              <a:t>On stocke les N prédictions de la variable d’intérêt pour chaque observation d’origine.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 prédiction de la forêt aléatoire est alors un simple vote majoritaire.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fr-FR" sz="18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fr-FR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fr-FR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fr-FR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fr-FR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fr-FR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fr-FR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12859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181</Words>
  <Application>Microsoft Office PowerPoint</Application>
  <PresentationFormat>Grand écran</PresentationFormat>
  <Paragraphs>28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Arial</vt:lpstr>
      <vt:lpstr>Calibri</vt:lpstr>
      <vt:lpstr>Calibri Light</vt:lpstr>
      <vt:lpstr>Thème Office</vt:lpstr>
      <vt:lpstr>Imputation des valeurs manquantes avec RandomForest Imputer</vt:lpstr>
      <vt:lpstr>Arbres de décision</vt:lpstr>
      <vt:lpstr>Forêts aléatoires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GUILLAUME BELLAY</dc:creator>
  <cp:lastModifiedBy>GUILLAUME BELLAY</cp:lastModifiedBy>
  <cp:revision>12</cp:revision>
  <dcterms:created xsi:type="dcterms:W3CDTF">2021-04-01T09:16:30Z</dcterms:created>
  <dcterms:modified xsi:type="dcterms:W3CDTF">2021-04-01T12:50:28Z</dcterms:modified>
</cp:coreProperties>
</file>